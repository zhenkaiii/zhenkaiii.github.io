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>
      <p:cViewPr varScale="1">
        <p:scale>
          <a:sx n="146" d="100"/>
          <a:sy n="146" d="100"/>
        </p:scale>
        <p:origin x="10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377F-A14A-AE34-B439-7BA16D662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1074D-45AB-9BD4-47ED-770C53624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CD024-FC09-AEA5-8417-E1686B8F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C6C8C-2393-A8E2-E2B7-F9FE2222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FEC57-7E38-AA5E-B8EB-D5CE4EA2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32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6097F-728D-A49B-58F3-7B4ED1AE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7D4D1-6A61-954D-450D-83B2BBA2C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56040-8880-455E-7DDB-93A6C27B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97B8E-3F24-3448-82CB-FD0D3DC4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40841-A57E-7132-E176-1949D690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5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60ED-1178-67A4-B7B1-4638B8A85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11172-D7FA-9763-0ED9-9ED0F785D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67F20-1D9F-5FE5-25A8-F6643AF4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84EB6-63C4-FF74-5239-09BE92A6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DCF51-C29C-582F-9A36-EF9B444A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0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FF1E-3E08-B5CB-8A65-ADBE1ADFF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FCC1B-B483-05A4-0015-89D722025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7CC7E-A6F1-5F28-1058-F13A32891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F9A88-457F-4396-7315-1687A80F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EF2FE-7A4C-FC3D-62C8-34912F3D1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C8364-3FCE-30DF-9CA4-34120AE8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48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ED97-7ED4-FF1E-42B3-1D2E8F3B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F83C7-4C6E-956A-450C-9B7094E55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97CC5-7428-F34A-9313-C4E50CFB1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44C6CE-9ECC-B920-85D0-A8CB4B9308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7EEC51-C50E-91D8-10AA-EC408E568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67295-056A-AE36-8FA5-E321FFAE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4BCEFE-469C-491B-0FC2-5284E78D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2D71A6-6BED-B27A-B499-795D0968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04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7235-3E49-E9E8-2B74-3FEA54CB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66A8F8-1159-8D2D-01D8-A67E4F0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B0511-744D-4D45-4AF9-30A263560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894A5-9858-A37A-5109-421666587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8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8B50BE-5649-E37B-D1A4-79D582FE8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24BC3-17C6-8F7D-7B85-15E09A0A0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2F24C-2049-C9FF-E13F-03DF7FD9E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28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A20F-E9DA-C24E-7309-E18D6F51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CDAC-36C2-D790-DBB7-29288CED0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795AE8-4693-44A9-0CB7-7467C2908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E3ADF-2FF0-A44E-B3EF-4D735F7D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164EB-E31C-3D99-2C79-41AA6324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E366A-36BB-26D3-D230-AF8AD7EB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0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92D5-CFCA-2B2B-A43C-2FE07476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4F1B9-F6B2-B567-A88B-EC74DF3A5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235A2-102E-3F4B-4EED-8FB3A9D6E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0488E-C0ED-B6DA-5AB9-EFE0949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28A5F-7FBE-A510-C222-5FA830D72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8A393-F53C-88C8-785E-4E6F54C16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9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D801-DD68-07CD-37BD-32762D98D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5BFB8-FCFE-08BE-4A32-B05DAAB8F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A5B62-96F6-134B-2A5A-54CB14734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D846F-B5D6-8187-B9EE-F372F7ED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28E33-625C-7F06-148C-D06134CA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28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36C676-690E-12D5-A46F-5174DB835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FC58F-8C94-5774-CF82-0093401D1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A8538-2536-A7CB-8EF0-5E620357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7AC41-99ED-0CA7-972C-5C761FDEB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4E3F6-8362-EC8C-6EA6-6F5C876FF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1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C7197D-BE66-AC5D-734E-7867347BF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30A7A-BCA0-60D2-75EB-FC2EBD26F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A6512-39CF-D7BD-CE0F-B736A4632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C39052-288B-9840-B879-587A4F22170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E3743-786F-223A-4E09-E9E80025E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FDD9F-73BB-F7E2-AE42-028929565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3E00DE-8281-EC40-92C4-94458405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1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6E1B63-F0DA-708C-E657-03F40E39CC13}"/>
              </a:ext>
            </a:extLst>
          </p:cNvPr>
          <p:cNvSpPr txBox="1"/>
          <p:nvPr/>
        </p:nvSpPr>
        <p:spPr>
          <a:xfrm>
            <a:off x="269965" y="458442"/>
            <a:ext cx="11852366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Strengths recognized:</a:t>
            </a: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 Ownership, Deliver Results, Invent and Simplify — consistently called out by manager and peers</a:t>
            </a: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 Learn and Be Curious, Dive Deep — strong peer recognition</a:t>
            </a: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 Concrete impact: LLM merging (3-7% WERR), ACL publication, Amazon Science feature, T2 prod coordination</a:t>
            </a:r>
          </a:p>
          <a:p>
            <a:pPr>
              <a:buNone/>
            </a:pPr>
            <a:b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Growth areas (what matters for next cycle):</a:t>
            </a: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 Manager is direct: "</a:t>
            </a:r>
            <a:r>
              <a:rPr lang="en-US" sz="13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technical gaps in pretraining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... </a:t>
            </a:r>
            <a:r>
              <a:rPr lang="en-US" sz="13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diving deep into inner working of the system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... </a:t>
            </a:r>
            <a:r>
              <a:rPr lang="en-US" sz="13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drive complex and ambiguous problems independently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 Manager wants you to "establish reputation as L6 expert on one or several pretraining dimensions"</a:t>
            </a: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 Peers flag: Think Big, Hire and Develop the Best (mentoring), expanding influence beyond team</a:t>
            </a:r>
          </a:p>
          <a:p>
            <a:pPr>
              <a:buNone/>
            </a:pPr>
            <a:b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The real message from your manager:</a:t>
            </a: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You transferred into scaling/pretraining and have been delivering well on coordination and execution. But to be seen as a strong L6 here, </a:t>
            </a:r>
            <a:r>
              <a:rPr lang="en-US" sz="13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you need to go from "reliable executor who coordinates" to "technical expert who drives direction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." </a:t>
            </a:r>
          </a:p>
        </p:txBody>
      </p:sp>
    </p:spTree>
    <p:extLst>
      <p:ext uri="{BB962C8B-B14F-4D97-AF65-F5344CB8AC3E}">
        <p14:creationId xmlns:p14="http://schemas.microsoft.com/office/powerpoint/2010/main" val="384771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E39B76-B909-A5A7-6141-E14C0A139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06" y="0"/>
            <a:ext cx="45069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F81041-5F38-6D7E-0B03-9C9BBA2DF880}"/>
              </a:ext>
            </a:extLst>
          </p:cNvPr>
          <p:cNvSpPr txBox="1"/>
          <p:nvPr/>
        </p:nvSpPr>
        <p:spPr>
          <a:xfrm>
            <a:off x="5085807" y="1033920"/>
            <a:ext cx="8926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[BLOCK_MASK_DEBUG] batch=3 </a:t>
            </a:r>
            <a:r>
              <a:rPr lang="en-US" dirty="0" err="1"/>
              <a:t>cu_seqlens</a:t>
            </a:r>
            <a:r>
              <a:rPr lang="en-US" dirty="0"/>
              <a:t> shape=</a:t>
            </a:r>
            <a:r>
              <a:rPr lang="en-US" dirty="0" err="1"/>
              <a:t>torch.Size</a:t>
            </a:r>
            <a:r>
              <a:rPr lang="en-US" dirty="0"/>
              <a:t>([2, 10]), num_docs_in_seq0=8, </a:t>
            </a:r>
          </a:p>
          <a:p>
            <a:r>
              <a:rPr lang="en-US" dirty="0" err="1"/>
              <a:t>cu_seqlens</a:t>
            </a:r>
            <a:r>
              <a:rPr lang="en-US" dirty="0"/>
              <a:t>[0]=[0, 3359, 5469, 5814, 6756, 7680, 7886, 8166, 8192, -1]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86D483-9E33-2859-6309-E222F91F0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374" y="3045822"/>
            <a:ext cx="44069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93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2BB0-2BA1-9F24-0817-8EC57476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7F25EC-9F8D-9A2A-9902-44B6DC38F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665" y="280334"/>
            <a:ext cx="8832669" cy="604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04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C3681-79A0-6AF5-17D5-41CF792C4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08D4A5-D74D-B7F4-A713-9AD54DB26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86744"/>
            <a:ext cx="11398216" cy="749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B95875-8662-E467-3C71-A044E785107E}"/>
              </a:ext>
            </a:extLst>
          </p:cNvPr>
          <p:cNvSpPr txBox="1"/>
          <p:nvPr/>
        </p:nvSpPr>
        <p:spPr>
          <a:xfrm>
            <a:off x="5805136" y="4097944"/>
            <a:ext cx="74231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</a:rPr>
              <a:t>return </a:t>
            </a:r>
            <a:r>
              <a:rPr lang="en-US" dirty="0" err="1">
                <a:latin typeface="Courier New" panose="02070309020205020404" pitchFamily="49" charset="0"/>
              </a:rPr>
              <a:t>PackedSeqParams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</a:rPr>
              <a:t>cu_seqlens_q</a:t>
            </a:r>
            <a:r>
              <a:rPr lang="en-US" dirty="0">
                <a:latin typeface="Courier New" panose="02070309020205020404" pitchFamily="49" charset="0"/>
              </a:rPr>
              <a:t>=</a:t>
            </a:r>
            <a:r>
              <a:rPr lang="en-US" dirty="0" err="1">
                <a:latin typeface="Courier New" panose="02070309020205020404" pitchFamily="49" charset="0"/>
              </a:rPr>
              <a:t>cu_seqlens</a:t>
            </a:r>
            <a:r>
              <a:rPr lang="en-US" dirty="0">
                <a:latin typeface="Courier New" panose="02070309020205020404" pitchFamily="49" charset="0"/>
              </a:rPr>
              <a:t>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</a:rPr>
              <a:t>cu_seqlens_kv</a:t>
            </a:r>
            <a:r>
              <a:rPr lang="en-US" dirty="0">
                <a:latin typeface="Courier New" panose="02070309020205020404" pitchFamily="49" charset="0"/>
              </a:rPr>
              <a:t>=</a:t>
            </a:r>
            <a:r>
              <a:rPr lang="en-US" dirty="0" err="1">
                <a:latin typeface="Courier New" panose="02070309020205020404" pitchFamily="49" charset="0"/>
              </a:rPr>
              <a:t>cu_seqlens</a:t>
            </a:r>
            <a:r>
              <a:rPr lang="en-US" dirty="0">
                <a:latin typeface="Courier New" panose="02070309020205020404" pitchFamily="49" charset="0"/>
              </a:rPr>
              <a:t>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</a:rPr>
              <a:t>max_seqlen_q</a:t>
            </a:r>
            <a:r>
              <a:rPr lang="en-US" dirty="0">
                <a:latin typeface="Courier New" panose="02070309020205020404" pitchFamily="49" charset="0"/>
              </a:rPr>
              <a:t>=</a:t>
            </a:r>
            <a:r>
              <a:rPr lang="en-US" dirty="0" err="1">
                <a:latin typeface="Courier New" panose="02070309020205020404" pitchFamily="49" charset="0"/>
              </a:rPr>
              <a:t>max_seqlen</a:t>
            </a:r>
            <a:r>
              <a:rPr lang="en-US" dirty="0">
                <a:latin typeface="Courier New" panose="02070309020205020404" pitchFamily="49" charset="0"/>
              </a:rPr>
              <a:t>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</a:rPr>
              <a:t>max_seqlen_kv</a:t>
            </a:r>
            <a:r>
              <a:rPr lang="en-US" dirty="0">
                <a:latin typeface="Courier New" panose="02070309020205020404" pitchFamily="49" charset="0"/>
              </a:rPr>
              <a:t>=</a:t>
            </a:r>
            <a:r>
              <a:rPr lang="en-US" dirty="0" err="1">
                <a:latin typeface="Courier New" panose="02070309020205020404" pitchFamily="49" charset="0"/>
              </a:rPr>
              <a:t>max_seqlen</a:t>
            </a:r>
            <a:r>
              <a:rPr lang="en-US" dirty="0">
                <a:latin typeface="Courier New" panose="02070309020205020404" pitchFamily="49" charset="0"/>
              </a:rPr>
              <a:t>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b="1" dirty="0" err="1">
                <a:latin typeface="Courier New" panose="02070309020205020404" pitchFamily="49" charset="0"/>
              </a:rPr>
              <a:t>qkv_format</a:t>
            </a:r>
            <a:r>
              <a:rPr lang="en-US" b="1" dirty="0">
                <a:latin typeface="Courier New" panose="02070309020205020404" pitchFamily="49" charset="0"/>
              </a:rPr>
              <a:t>="</a:t>
            </a:r>
            <a:r>
              <a:rPr lang="en-US" b="1" dirty="0" err="1">
                <a:latin typeface="Courier New" panose="02070309020205020404" pitchFamily="49" charset="0"/>
              </a:rPr>
              <a:t>thd</a:t>
            </a:r>
            <a:r>
              <a:rPr lang="en-US" b="1" dirty="0">
                <a:latin typeface="Courier New" panose="02070309020205020404" pitchFamily="49" charset="0"/>
              </a:rPr>
              <a:t>", # not </a:t>
            </a:r>
            <a:r>
              <a:rPr lang="en-US" dirty="0">
                <a:latin typeface="Courier New" panose="02070309020205020404" pitchFamily="49" charset="0"/>
              </a:rPr>
              <a:t>”</a:t>
            </a:r>
            <a:r>
              <a:rPr lang="en-US" b="1" dirty="0" err="1">
                <a:latin typeface="Courier New" panose="02070309020205020404" pitchFamily="49" charset="0"/>
              </a:rPr>
              <a:t>sbhd</a:t>
            </a:r>
            <a:r>
              <a:rPr lang="en-US" dirty="0">
                <a:latin typeface="Courier New" panose="02070309020205020404" pitchFamily="49" charset="0"/>
              </a:rPr>
              <a:t>" when </a:t>
            </a:r>
            <a:r>
              <a:rPr lang="en-US" dirty="0" err="1">
                <a:latin typeface="Courier New" panose="02070309020205020404" pitchFamily="49" charset="0"/>
              </a:rPr>
              <a:t>cu_seqlens</a:t>
            </a:r>
            <a:r>
              <a:rPr lang="en-US" dirty="0">
                <a:latin typeface="Courier New" panose="02070309020205020404" pitchFamily="49" charset="0"/>
              </a:rPr>
              <a:t> present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</a:rPr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64C13-1175-F7C5-D1B2-7C125A3D7474}"/>
              </a:ext>
            </a:extLst>
          </p:cNvPr>
          <p:cNvSpPr txBox="1"/>
          <p:nvPr/>
        </p:nvSpPr>
        <p:spPr>
          <a:xfrm>
            <a:off x="2664824" y="1234217"/>
            <a:ext cx="8926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[BLOCK_MASK_DEBUG] batch=3 </a:t>
            </a:r>
            <a:r>
              <a:rPr lang="en-US" dirty="0" err="1"/>
              <a:t>cu_seqlens</a:t>
            </a:r>
            <a:r>
              <a:rPr lang="en-US" dirty="0"/>
              <a:t> shape=</a:t>
            </a:r>
            <a:r>
              <a:rPr lang="en-US" dirty="0" err="1"/>
              <a:t>torch.Size</a:t>
            </a:r>
            <a:r>
              <a:rPr lang="en-US" dirty="0"/>
              <a:t>([2, 10]), num_docs_in_seq0=8, </a:t>
            </a:r>
          </a:p>
          <a:p>
            <a:r>
              <a:rPr lang="en-US" dirty="0" err="1"/>
              <a:t>cu_seqlens</a:t>
            </a:r>
            <a:r>
              <a:rPr lang="en-US" dirty="0"/>
              <a:t>[0]=[0, 3359, 5469, 5814, 6756, 7680, 7886, 8166, 8192, -1]</a:t>
            </a:r>
          </a:p>
        </p:txBody>
      </p:sp>
    </p:spTree>
    <p:extLst>
      <p:ext uri="{BB962C8B-B14F-4D97-AF65-F5344CB8AC3E}">
        <p14:creationId xmlns:p14="http://schemas.microsoft.com/office/powerpoint/2010/main" val="812698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888B6-76BF-98DE-71F6-53F22B6F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134A18-F12D-6E08-9D6C-1900F0A86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562675"/>
            <a:ext cx="9982200" cy="5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3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6D064-7CB1-55F3-0325-186ED0BE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057698-BCEE-BEDC-D5EA-1EB87DF9A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1701800"/>
            <a:ext cx="5715000" cy="345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D63E62-94CA-4BD6-9A21-F714FE0A0B47}"/>
              </a:ext>
            </a:extLst>
          </p:cNvPr>
          <p:cNvSpPr txBox="1"/>
          <p:nvPr/>
        </p:nvSpPr>
        <p:spPr>
          <a:xfrm>
            <a:off x="3238500" y="6094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~5.4% throughput cost due to the variable-length flash attention kernel (</a:t>
            </a:r>
            <a:r>
              <a:rPr lang="en-US" dirty="0" err="1">
                <a:latin typeface="Courier New" panose="02070309020205020404" pitchFamily="49" charset="0"/>
              </a:rPr>
              <a:t>thd</a:t>
            </a:r>
            <a:r>
              <a:rPr lang="en-US" dirty="0"/>
              <a:t> + </a:t>
            </a:r>
            <a:r>
              <a:rPr lang="en-US" dirty="0" err="1">
                <a:latin typeface="Courier New" panose="02070309020205020404" pitchFamily="49" charset="0"/>
              </a:rPr>
              <a:t>padding_causal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4141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39B0FC-9275-DCE6-810C-82C0FBA058E4}"/>
              </a:ext>
            </a:extLst>
          </p:cNvPr>
          <p:cNvSpPr txBox="1"/>
          <p:nvPr/>
        </p:nvSpPr>
        <p:spPr>
          <a:xfrm>
            <a:off x="4053453" y="408963"/>
            <a:ext cx="4085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 still early on: no degradation so far.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A614A-9CF7-CD0F-F190-DF3B00226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448" y="1194779"/>
            <a:ext cx="9477103" cy="474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392</Words>
  <Application>Microsoft Macintosh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., Kai</dc:creator>
  <cp:lastModifiedBy>., Kai</cp:lastModifiedBy>
  <cp:revision>6</cp:revision>
  <dcterms:created xsi:type="dcterms:W3CDTF">2026-03-25T17:05:00Z</dcterms:created>
  <dcterms:modified xsi:type="dcterms:W3CDTF">2026-03-25T17:58:20Z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2026-03-25T17:18:34Z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a5f1a0ca-e7fa-469d-b41e-c16297607b5e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